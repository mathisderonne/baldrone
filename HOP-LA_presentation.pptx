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 projet" id="{de285da0-6348-a6b6-23b1-6e123b9b2e9d}">
          <p14:sldIdLst>
            <p14:sldId id="256"/>
            <p14:sldId id="257"/>
            <p14:sldId id="258"/>
          </p14:sldIdLst>
        </p14:section>
        <p14:section name="Étude marketing" id="{4d815757-ac86-9c9e-23b0-e5a8b53f0876}">
          <p14:sldIdLst>
            <p14:sldId id="259"/>
            <p14:sldId id="260"/>
            <p14:sldId id="261"/>
            <p14:sldId id="262"/>
          </p14:sldIdLst>
        </p14:section>
        <p14:section name="Projet Ydays" id="{488c6b68-ba38-78c3-fedc-0e0900dbb933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3233F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13233F"/>
                </a:solidFill>
                <a:latin typeface="+mn-lt"/>
              </a:rPr>
              <a:t>Marché mondial de la livraison par drone (Md$)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Livraison par drone (Md$)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2030 (prévision)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0.69</c:v>
                </c:pt>
                <c:pt idx="1">
                  <c:v>4.67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400" u="none">
                  <a:solidFill>
                    <a:srgbClr val="1323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A6B8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HOP-LA, comme « hop, c'est là ». Un drone autonome relie un restaurant à ses clients dans un rayon d'un kilomètre et se pose directement chez eux.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chiffres viennent d'un service réel en Irlande. Notre objectif est de mesurer nous-mêmes le temps de livraison sur 1 km pendant les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HOP-PAD est une petite zone d’atterrissage avec un repère visuel. Le client confirme dans l’app que la zone est libre avant l’atterrissage.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marché de la livraison de repas en France est installé mais coûteux pour le client. Le marché de la livraison par drone est petit mais croît de 37 % par an selon MarketsandMarkets.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grands acteurs prouvent que le modèle fonctionne. En France, nous n’avons pas trouvé de service grand public de livraison de repas par drone : c’est l’opportunité de HOP-LA.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prix de 2 à 4 € est une hypothèse de départ, à valider par un questionnaire auprès des étudiants et des restaurants pendant le projet.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version premiers secours est celle qui justifie le mieux le drone : quand chaque minute compte, gagner un quart d’heure change tout.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3931920"/>
            <a:ext cx="69494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pic>
        <p:nvPicPr>
          <p:cNvPr id="3" name="Image 0" descr="/home/claude/hopla/hopla_logo_ic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6263640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_SOMB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D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OP-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7315200" cy="2286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39319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Le drone autonome qui livre votre repas sur votre balcon ou devant votre porte, en 3 minutes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5257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Projet Ydays 26-27 · Ynov Campus Bordeaux</a:t>
            </a:r>
            <a:endParaRPr lang="en-US" sz="1500" dirty="0"/>
          </a:p>
        </p:txBody>
      </p:sp>
      <p:pic>
        <p:nvPicPr>
          <p:cNvPr id="5" name="Image 1" descr="Icône HOP-LA : drone qui saute vers une ci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4173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Sur 1 km en ville, la ligne droite gagne</a:t>
            </a:r>
            <a:endParaRPr lang="en-US" sz="3400" dirty="0"/>
          </a:p>
        </p:txBody>
      </p:sp>
      <p:sp>
        <p:nvSpPr>
          <p:cNvPr id="3" name="stat0"/>
          <p:cNvSpPr/>
          <p:nvPr/>
        </p:nvSpPr>
        <p:spPr>
          <a:xfrm>
            <a:off x="548640" y="155448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&lt; 3 min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Livraison de repas par drone à Dublin (Manna × Deliveroo)</a:t>
            </a:r>
            <a:endParaRPr lang="en-US" sz="1500" dirty="0"/>
          </a:p>
        </p:txBody>
      </p:sp>
      <p:sp>
        <p:nvSpPr>
          <p:cNvPr id="6" name="stat1"/>
          <p:cNvSpPr/>
          <p:nvPr/>
        </p:nvSpPr>
        <p:spPr>
          <a:xfrm>
            <a:off x="4297680" y="155448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15 à 20 min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Pour un livreur classique sur le même trajet</a:t>
            </a:r>
            <a:endParaRPr lang="en-US" sz="1500" dirty="0"/>
          </a:p>
        </p:txBody>
      </p:sp>
      <p:sp>
        <p:nvSpPr>
          <p:cNvPr id="9" name="stat2"/>
          <p:cNvSpPr/>
          <p:nvPr/>
        </p:nvSpPr>
        <p:spPr>
          <a:xfrm>
            <a:off x="8046720" y="1554480"/>
            <a:ext cx="347472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7830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13,7 min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88036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Durée moyenne d'une course Uber Eats en France (2025)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Le drone est pertinent quand 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Courte distance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moins de 1 km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64992" y="48920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364992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050792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Ville dense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050792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trafic, stationnement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81344" y="48920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81344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867144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Accès difficile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67144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digicode, étages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997696" y="4892040"/>
            <a:ext cx="548640" cy="54864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997696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683496" y="4846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Urgence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683496" y="5166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chaque minute compte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09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</a:rPr>
              <a:t>Sources : DroneDJ, avril 2025 (Manna, Dublin) · ARPE, données plateformes 2025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Il se pose directement chez le client</a:t>
            </a:r>
            <a:endParaRPr lang="en-US" sz="3400" dirty="0"/>
          </a:p>
        </p:txBody>
      </p:sp>
      <p:sp>
        <p:nvSpPr>
          <p:cNvPr id="3" name="etape0"/>
          <p:cNvSpPr/>
          <p:nvPr/>
        </p:nvSpPr>
        <p:spPr>
          <a:xfrm>
            <a:off x="54864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Commande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 client commande dans l'app et suit le drone en temps réel.</a:t>
            </a:r>
            <a:endParaRPr lang="en-US" sz="1500" dirty="0"/>
          </a:p>
        </p:txBody>
      </p:sp>
      <p:sp>
        <p:nvSpPr>
          <p:cNvPr id="7" name="etape1"/>
          <p:cNvSpPr/>
          <p:nvPr/>
        </p:nvSpPr>
        <p:spPr>
          <a:xfrm>
            <a:off x="338328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Vol autonome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Trajet GPS en ligne droite, LiDAR pour éviter les obstacles.</a:t>
            </a:r>
            <a:endParaRPr lang="en-US" sz="1500" dirty="0"/>
          </a:p>
        </p:txBody>
      </p:sp>
      <p:sp>
        <p:nvSpPr>
          <p:cNvPr id="11" name="etape2"/>
          <p:cNvSpPr/>
          <p:nvPr/>
        </p:nvSpPr>
        <p:spPr>
          <a:xfrm>
            <a:off x="621792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Repérage IA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caméra reconnaît le HOP-PAD posé sur le balcon ou devant l’entrée.</a:t>
            </a:r>
            <a:endParaRPr lang="en-US" sz="1500" dirty="0"/>
          </a:p>
        </p:txBody>
      </p:sp>
      <p:sp>
        <p:nvSpPr>
          <p:cNvPr id="15" name="etape3"/>
          <p:cNvSpPr/>
          <p:nvPr/>
        </p:nvSpPr>
        <p:spPr>
          <a:xfrm>
            <a:off x="9052560" y="1600200"/>
            <a:ext cx="2606040" cy="3291840"/>
          </a:xfrm>
          <a:prstGeom prst="roundRect">
            <a:avLst>
              <a:gd name="adj" fmla="val 421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8288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04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Atterrissage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26880" y="32004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Le drone se pose, libère le colis par une trappe, puis repart.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035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5A6B85"/>
                </a:solidFill>
              </a:rPr>
              <a:t>Charge utile visée : </a:t>
            </a:r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</a:rPr>
              <a:t>1,5 kg   ·   </a:t>
            </a:r>
            <a:pPr indent="0" marL="0">
              <a:buNone/>
            </a:pPr>
            <a:r>
              <a:rPr lang="en-US" sz="1500" b="1" dirty="0">
                <a:solidFill>
                  <a:srgbClr val="5A6B85"/>
                </a:solidFill>
              </a:rPr>
              <a:t>Rayon : </a:t>
            </a:r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</a:rPr>
              <a:t>1 km   ·   </a:t>
            </a:r>
            <a:pPr indent="0" marL="0">
              <a:buNone/>
            </a:pPr>
            <a:r>
              <a:rPr lang="en-US" sz="1500" b="1" dirty="0">
                <a:solidFill>
                  <a:srgbClr val="5A6B85"/>
                </a:solidFill>
              </a:rPr>
              <a:t>Tests : </a:t>
            </a:r>
            <a:pPr indent="0" marL="0">
              <a:buNone/>
            </a:pPr>
            <a:r>
              <a:rPr lang="en-US" sz="1500" dirty="0">
                <a:solidFill>
                  <a:srgbClr val="5A6B85"/>
                </a:solidFill>
              </a:rPr>
              <a:t>en environnement contrôlé (cadre EASA)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Deux marchés qui se rencontrent</a:t>
            </a:r>
            <a:endParaRPr lang="en-US" sz="3400" dirty="0"/>
          </a:p>
        </p:txBody>
      </p:sp>
      <p:sp>
        <p:nvSpPr>
          <p:cNvPr id="3" name="marche_fr"/>
          <p:cNvSpPr/>
          <p:nvPr/>
        </p:nvSpPr>
        <p:spPr>
          <a:xfrm>
            <a:off x="548640" y="1554480"/>
            <a:ext cx="4937760" cy="20574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≈ 7 Md€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5176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Marché de la livraison de repas en France (2022), après un pic à 8,4 Md€ en 2021</a:t>
            </a:r>
            <a:endParaRPr lang="en-US" sz="1500" dirty="0"/>
          </a:p>
        </p:txBody>
      </p:sp>
      <p:sp>
        <p:nvSpPr>
          <p:cNvPr id="6" name="surcout"/>
          <p:cNvSpPr/>
          <p:nvPr/>
        </p:nvSpPr>
        <p:spPr>
          <a:xfrm>
            <a:off x="548640" y="3794760"/>
            <a:ext cx="493776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tx1"/>
                </a:solidFill>
              </a:rPr>
              <a:t>+30 à 50 %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Surcoût d’un repas livré avec les frais : le client paie cher une livraison lente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943600" y="146304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126480" y="5486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+37 % par an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 croissance prévue entre 2024 et 2030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309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</a:rPr>
              <a:t>Sources : Food Service Vision via Économie Matin (mars 2024) · MarketsandMarkets, Drone Package Delivery Market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Le drone livre déjà ailleurs, pas en France</a:t>
            </a:r>
            <a:endParaRPr lang="en-US" sz="3400" dirty="0"/>
          </a:p>
        </p:txBody>
      </p:sp>
      <p:sp>
        <p:nvSpPr>
          <p:cNvPr id="3" name="ref0"/>
          <p:cNvSpPr/>
          <p:nvPr/>
        </p:nvSpPr>
        <p:spPr>
          <a:xfrm>
            <a:off x="548640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IRLANDE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Manna × Deliveroo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Repas livrés par drone à Dublin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Moins de 3 minutes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Jusqu'à 80 livraisons par drone et par jour</a:t>
            </a:r>
            <a:endParaRPr lang="en-US" sz="1500" dirty="0"/>
          </a:p>
        </p:txBody>
      </p:sp>
      <p:sp>
        <p:nvSpPr>
          <p:cNvPr id="7" name="ref1"/>
          <p:cNvSpPr/>
          <p:nvPr/>
        </p:nvSpPr>
        <p:spPr>
          <a:xfrm>
            <a:off x="4297680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tx1"/>
                </a:solidFill>
              </a:rPr>
              <a:t>ÉTATS-UNIS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Wing × Walmart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1 million de livraisons (mai 2026)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23 min en moyenne de la commande au dépôt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270+ sites prévus en 2027</a:t>
            </a:r>
            <a:endParaRPr lang="en-US" sz="1500" dirty="0"/>
          </a:p>
        </p:txBody>
      </p:sp>
      <p:sp>
        <p:nvSpPr>
          <p:cNvPr id="11" name="ref2"/>
          <p:cNvSpPr/>
          <p:nvPr/>
        </p:nvSpPr>
        <p:spPr>
          <a:xfrm>
            <a:off x="8046720" y="155448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783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</a:rPr>
              <a:t>FRANCE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1488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Une place à prendre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880360"/>
            <a:ext cx="2971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Aucun service grand public de repas par drone identifié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Livraison actuelle : scooters et vélos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HOP-LA vise ce créneau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30936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</a:rPr>
              <a:t>Sources : DroneDJ (avril 2025) · DroneXL (mai 2026) · Axios (janvier 2026)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Nos cibles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5544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Clients urbains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116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A63"/>
                </a:solidFill>
              </a:rPr>
              <a:t>Étudiants et jeunes actifs en appartement avec balcon, qui commandent le soir et veulent manger chaud.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926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Restaurants partenaires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3832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A63"/>
                </a:solidFill>
              </a:rPr>
              <a:t>Indépendants qui veulent livrer vite sans gérer une flotte de livreurs.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4297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Pharmacies &amp; commerces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7548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4A63"/>
                </a:solidFill>
              </a:rPr>
              <a:t>Petits objets urgents de moins de 1,5 kg à livrer en quelques minutes.</a:t>
            </a:r>
            <a:endParaRPr lang="en-US" sz="1500" dirty="0"/>
          </a:p>
        </p:txBody>
      </p:sp>
      <p:sp>
        <p:nvSpPr>
          <p:cNvPr id="15" name="positionnement"/>
          <p:cNvSpPr/>
          <p:nvPr/>
        </p:nvSpPr>
        <p:spPr>
          <a:xfrm>
            <a:off x="6675120" y="1554480"/>
            <a:ext cx="4937760" cy="411480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2"/>
                </a:solidFill>
              </a:rPr>
              <a:t>POSITIONNEMENT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2194560"/>
            <a:ext cx="4389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Plus rapide que le scooter, plus simple que de se déplacer.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6118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Promesse 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livré en 3 minutes, encore chaud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Prix 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frais de livraison de 2 à 4 € (hypothèse à tester)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Slogan : </a:t>
            </a:r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« Hop, c’est livré ! 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Analyse SWOT</a:t>
            </a:r>
            <a:endParaRPr lang="en-US" sz="3400" dirty="0"/>
          </a:p>
        </p:txBody>
      </p:sp>
      <p:sp>
        <p:nvSpPr>
          <p:cNvPr id="3" name="swot0"/>
          <p:cNvSpPr/>
          <p:nvPr/>
        </p:nvSpPr>
        <p:spPr>
          <a:xfrm>
            <a:off x="54864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Forces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Livraison en 3 min, sans trafic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Électrique, sans émission directe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Repas encore chaud</a:t>
            </a:r>
            <a:endParaRPr lang="en-US" sz="1500" dirty="0"/>
          </a:p>
        </p:txBody>
      </p:sp>
      <p:sp>
        <p:nvSpPr>
          <p:cNvPr id="6" name="swot1"/>
          <p:cNvSpPr/>
          <p:nvPr/>
        </p:nvSpPr>
        <p:spPr>
          <a:xfrm>
            <a:off x="6172200" y="146304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Faiblesses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14884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Charge limitée (1,5 kg)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Sensible au vent et à la pluie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Autonomie de batterie</a:t>
            </a:r>
            <a:endParaRPr lang="en-US" sz="1500" dirty="0"/>
          </a:p>
        </p:txBody>
      </p:sp>
      <p:sp>
        <p:nvSpPr>
          <p:cNvPr id="9" name="swot2"/>
          <p:cNvSpPr/>
          <p:nvPr/>
        </p:nvSpPr>
        <p:spPr>
          <a:xfrm>
            <a:off x="54864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Opportunités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Marché drone : +37 % par an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Aucun acteur grand public en France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Version premiers secours</a:t>
            </a:r>
            <a:endParaRPr lang="en-US" sz="1500" dirty="0"/>
          </a:p>
        </p:txBody>
      </p:sp>
      <p:sp>
        <p:nvSpPr>
          <p:cNvPr id="12" name="swot3"/>
          <p:cNvSpPr/>
          <p:nvPr/>
        </p:nvSpPr>
        <p:spPr>
          <a:xfrm>
            <a:off x="6172200" y="3840480"/>
            <a:ext cx="54406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4023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Menaces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526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Réglementation EASA stricte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Acceptabilité : bruit, vie privée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Géants étrangers (Wing, Manna)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Une base technique, trois versions</a:t>
            </a:r>
            <a:endParaRPr lang="en-US" sz="3400" dirty="0"/>
          </a:p>
        </p:txBody>
      </p:sp>
      <p:sp>
        <p:nvSpPr>
          <p:cNvPr id="3" name="version0"/>
          <p:cNvSpPr/>
          <p:nvPr/>
        </p:nvSpPr>
        <p:spPr>
          <a:xfrm>
            <a:off x="548640" y="164592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V1 · LE CŒUR DU PROJET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Repas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089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Restaurant → balcon en 3 min, chaud, sans trafic.</a:t>
            </a:r>
            <a:endParaRPr lang="en-US" sz="1600" dirty="0"/>
          </a:p>
        </p:txBody>
      </p:sp>
      <p:sp>
        <p:nvSpPr>
          <p:cNvPr id="7" name="version1"/>
          <p:cNvSpPr/>
          <p:nvPr/>
        </p:nvSpPr>
        <p:spPr>
          <a:xfrm>
            <a:off x="4297680" y="164592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1E3A63"/>
          </a:solidFill>
          <a:ln w="12700">
            <a:solidFill>
              <a:srgbClr val="1E3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V2 · PROXIMITÉ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Petits objets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1089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Pharmacie, clés oubliées, chargeur, pièce détachée : moins de 1,5 kg.</a:t>
            </a:r>
            <a:endParaRPr lang="en-US" sz="1600" dirty="0"/>
          </a:p>
        </p:txBody>
      </p:sp>
      <p:sp>
        <p:nvSpPr>
          <p:cNvPr id="11" name="version2"/>
          <p:cNvSpPr/>
          <p:nvPr/>
        </p:nvSpPr>
        <p:spPr>
          <a:xfrm>
            <a:off x="8046720" y="1645920"/>
            <a:ext cx="3474720" cy="3840480"/>
          </a:xfrm>
          <a:prstGeom prst="roundRect">
            <a:avLst>
              <a:gd name="adj" fmla="val 315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920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tx1"/>
                </a:solidFill>
              </a:rPr>
              <a:t>V3 · FORT IMPACT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3774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Premiers secours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10896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 kit de premiers secours livré en quelques minutes, en attendant les secours.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7FD1F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Équipe, planning et budget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L’ÉQUIPE · 8 PARTICIPANTS</a:t>
            </a:r>
            <a:endParaRPr lang="en-US" sz="1300" dirty="0"/>
          </a:p>
        </p:txBody>
      </p:sp>
      <p:sp>
        <p:nvSpPr>
          <p:cNvPr id="4" name="pole0"/>
          <p:cNvSpPr/>
          <p:nvPr/>
        </p:nvSpPr>
        <p:spPr>
          <a:xfrm>
            <a:off x="548640" y="1920240"/>
            <a:ext cx="4206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Méca / Robot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9202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4</a:t>
            </a:r>
            <a:endParaRPr lang="en-US" sz="1800" dirty="0"/>
          </a:p>
        </p:txBody>
      </p:sp>
      <p:sp>
        <p:nvSpPr>
          <p:cNvPr id="7" name="pole1"/>
          <p:cNvSpPr/>
          <p:nvPr/>
        </p:nvSpPr>
        <p:spPr>
          <a:xfrm>
            <a:off x="548640" y="2606040"/>
            <a:ext cx="4206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Info (IA, dev, cloud)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606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pole2"/>
          <p:cNvSpPr/>
          <p:nvPr/>
        </p:nvSpPr>
        <p:spPr>
          <a:xfrm>
            <a:off x="548640" y="3291840"/>
            <a:ext cx="4206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91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Marketing / Produit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13" name="pole3"/>
          <p:cNvSpPr/>
          <p:nvPr/>
        </p:nvSpPr>
        <p:spPr>
          <a:xfrm>
            <a:off x="548640" y="3977640"/>
            <a:ext cx="4206240" cy="54864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Créa / Com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9776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</a:t>
            </a:r>
            <a:endParaRPr lang="en-US" sz="1800" dirty="0"/>
          </a:p>
        </p:txBody>
      </p:sp>
      <p:sp>
        <p:nvSpPr>
          <p:cNvPr id="16" name="budget"/>
          <p:cNvSpPr/>
          <p:nvPr/>
        </p:nvSpPr>
        <p:spPr>
          <a:xfrm>
            <a:off x="548640" y="4800600"/>
            <a:ext cx="4206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84632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150 €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2514600" y="484632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de budget : la plupart des pièces sont déjà disponibles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146304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1"/>
                </a:solidFill>
              </a:rPr>
              <a:t>LE PLANNING · 11 SÉANCES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148840"/>
            <a:ext cx="0" cy="3429000"/>
          </a:xfrm>
          <a:prstGeom prst="line">
            <a:avLst/>
          </a:prstGeom>
          <a:noFill/>
          <a:ln w="25400">
            <a:solidFill>
              <a:srgbClr val="D5DC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688" y="1984248"/>
            <a:ext cx="329184" cy="329184"/>
          </a:xfrm>
          <a:prstGeom prst="ellipse">
            <a:avLst/>
          </a:prstGeom>
          <a:solidFill>
            <a:srgbClr val="13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80760" y="1920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Nov. – Déc.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1920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Cadrage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23591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Équipe, cahier des charges, choix des composants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504688" y="2971800"/>
            <a:ext cx="329184" cy="329184"/>
          </a:xfrm>
          <a:prstGeom prst="ellipse">
            <a:avLst/>
          </a:prstGeom>
          <a:solidFill>
            <a:srgbClr val="13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080760" y="29077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Janv. – Mars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680960" y="290779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Prototype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3346704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Simulation, premiers vols, repérage par IA, atterrissage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504688" y="3959352"/>
            <a:ext cx="329184" cy="329184"/>
          </a:xfrm>
          <a:prstGeom prst="ellipse">
            <a:avLst/>
          </a:prstGeom>
          <a:solidFill>
            <a:srgbClr val="1323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080760" y="38953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Avril – Mai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38953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Autonomie &amp; business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4334256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Mission complète, versions, business model, tests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504688" y="4946904"/>
            <a:ext cx="329184" cy="329184"/>
          </a:xfrm>
          <a:prstGeom prst="ellipse">
            <a:avLst/>
          </a:prstGeom>
          <a:solidFill>
            <a:srgbClr val="FF6B3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080760" y="48828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Juin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680960" y="4882896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Démo finale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</a:rPr>
              <a:t>Démonstration, vidéo et soutenance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378440" y="6291072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A6B8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 HOP-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7315200" cy="2286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393192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bg1"/>
                </a:solidFill>
              </a:rPr>
              <a:t>Mécatronique, IA, dev, cloud, produit, com, audiovisuel : rejoins l’équipe !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52578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2"/>
                </a:solidFill>
              </a:rPr>
              <a:t>Projet Ydays 26-27 · Ynov Campus Bordeaux</a:t>
            </a:r>
            <a:endParaRPr lang="en-US" sz="1500" dirty="0"/>
          </a:p>
        </p:txBody>
      </p:sp>
      <p:pic>
        <p:nvPicPr>
          <p:cNvPr id="5" name="Image 1" descr="Icône HOP-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80" y="1417320"/>
            <a:ext cx="3474720" cy="3474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OP-LA">
  <a:themeElements>
    <a:clrScheme name="HOP-LA">
      <a:dk1>
        <a:srgbClr val="13233F"/>
      </a:dk1>
      <a:lt1>
        <a:srgbClr val="FFFFFF"/>
      </a:lt1>
      <a:dk2>
        <a:srgbClr val="1E3A63"/>
      </a:dk2>
      <a:lt2>
        <a:srgbClr val="F2F5FA"/>
      </a:lt2>
      <a:accent1>
        <a:srgbClr val="FF6B35"/>
      </a:accent1>
      <a:accent2>
        <a:srgbClr val="7FD1F2"/>
      </a:accent2>
      <a:accent3>
        <a:srgbClr val="2BB673"/>
      </a:accent3>
      <a:accent4>
        <a:srgbClr val="E84855"/>
      </a:accent4>
      <a:accent5>
        <a:srgbClr val="5A6B85"/>
      </a:accent5>
      <a:accent6>
        <a:srgbClr val="FFC145"/>
      </a:accent6>
      <a:hlink>
        <a:srgbClr val="FF6B35"/>
      </a:hlink>
      <a:folHlink>
        <a:srgbClr val="7FD1F2"/>
      </a:folHlink>
    </a:clrScheme>
    <a:fontScheme name="HOP-LA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HOP-LA — Présentation projet</dc:title>
  <dc:subject>PptxGenJS Presentation</dc:subject>
  <dc:creator>Projet HOP-LA · Ydays 26-27</dc:creator>
  <cp:lastModifiedBy>Projet HOP-LA · Ydays 26-27</cp:lastModifiedBy>
  <cp:revision>1</cp:revision>
  <dcterms:created xsi:type="dcterms:W3CDTF">2026-10-28T10:43:35Z</dcterms:created>
  <dcterms:modified xsi:type="dcterms:W3CDTF">2026-10-28T10:43:35Z</dcterms:modified>
</cp:coreProperties>
</file>